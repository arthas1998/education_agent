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72"/>
    <p:restoredTop sz="94727"/>
  </p:normalViewPr>
  <p:slideViewPr>
    <p:cSldViewPr snapToGrid="0" snapToObjects="1">
      <p:cViewPr varScale="1">
        <p:scale>
          <a:sx n="173" d="100"/>
          <a:sy n="173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7ED62-3CD8-E44D-A473-293C82359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E14FDE-9A0F-D64D-BE42-5DD103B14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A31CB7-656E-9C42-91AB-907D8F75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81B1E-CDD7-D640-8B14-8152693F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72825-97B9-BB47-8A0A-CFC58F30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93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C40C4-6FEF-394F-A468-83735282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B8FD6-E079-6046-8A25-28EB6EB49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A0ECDD-FFB6-8642-96CA-5DF6D0E4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3053DA-1467-4744-928F-6F5656BF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3F90BC-B9B3-0D45-A004-9B8500AA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448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B7805-C4C5-9843-A284-F44A9ECC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6FA526-ABDC-3C4D-AD79-36A723B85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D8817-C1EA-F94C-924F-96E2F429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C7218-E868-1945-BF62-1E948614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F72ED-EFA3-1044-9DA2-FCCC4F71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194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5FFDC-C935-7346-AF8D-5655E882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1862C-616E-F64D-9A64-7CDC70865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38C89A-CD37-6B47-8349-24CB09618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11689D-FBD8-A946-A234-5E459000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C0A380-D875-CE4D-A2BF-4E917BEE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F4A89E-45F5-4147-98E4-58C85655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866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F2F84-7523-F145-9414-728360FD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4D3DE5-6AD6-9447-8EBF-4E656FF6C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A26B81-4F46-4349-B3B6-925BA98CE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0640F5-9373-2F42-91F7-E37DD5AD0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4EC51B-F087-CE4C-87EB-AA460EB73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3497B5-BD89-7446-8970-77AF8F6D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499662-5A90-2045-B2D4-81F51154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E6789C-0AB7-1547-8BBE-E6D0A69E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62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72300-C85C-E546-9BEE-8382176F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010A35-D6F6-2048-A270-90D60838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C31A39-EFD5-DF4C-A927-7AEC93C5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765EA1-D032-1741-989F-DB2470C0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380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1542DA-7EF3-5A43-ADA0-49228176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4B93A-EB42-E245-AC63-443CEC3B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F866E7-D027-944A-A706-6055ABBC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277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18EC9-6A2A-1C48-8A16-685E96C2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E9749-D374-8D4B-8699-C7A8692EC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415BD4-C852-A447-9569-745A6CFF0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20B8F2-59B5-DF46-A7CF-BE21B9799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5D859F-D649-7C4A-A641-00E79CE2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CA1158-61E1-204A-8F7B-788039AC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399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44151-7602-4E4E-B440-87465114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583674-609E-FB47-B0E4-82D59F1CE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92E0DD-EB80-FD4E-A1EC-AA47E7954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32E8CD-D7AE-4340-8C23-2F615AD7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E2AD18-7D0E-9245-93E8-97FA9DBD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7E74EB-DD8F-E64E-B3AE-552564ED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45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D8740-25B6-5847-A816-4464CF22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A9A1BE-63EF-744C-950A-0DCCCD6E5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CE1BA8-2E25-064B-BD2C-7EC5CA8D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7221D-621D-7E40-B67D-A2A1DB33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905B9-76EE-454E-9F2F-C7057387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61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7431D2-EB43-1E48-84E0-58C957070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4F93C7-DE5A-5345-B85A-114E1909D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6E0C1-F993-3744-966E-825B92F8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573F1-92A7-434E-99AC-D9C2EE79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2625D-20DA-A94C-9FF8-6E1CE3D1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473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D80F12-5D05-5D46-BED5-FC3DD6DF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0D520F-5CFF-CE46-88A3-FE0B50C96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56BA2-2ADD-AB4B-AB46-AE4C8FF8E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F4F82-F82B-4C4C-AD77-2ECDDE614C3E}" type="datetimeFigureOut">
              <a:rPr kumimoji="1" lang="zh-CN" altLang="en-US" smtClean="0"/>
              <a:t>2025/9/6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CF314D-4E40-C740-81FA-FE44BC9F4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52D08-29A8-6049-A563-7F53493DA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67FD8-AC90-D943-8294-C4664C4617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999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E70AD89-B8A4-6244-A27D-A96C02C66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32906"/>
              </p:ext>
            </p:extLst>
          </p:nvPr>
        </p:nvGraphicFramePr>
        <p:xfrm>
          <a:off x="343139" y="111619"/>
          <a:ext cx="11505721" cy="6634761"/>
        </p:xfrm>
        <a:graphic>
          <a:graphicData uri="http://schemas.openxmlformats.org/drawingml/2006/table">
            <a:tbl>
              <a:tblPr/>
              <a:tblGrid>
                <a:gridCol w="1935487">
                  <a:extLst>
                    <a:ext uri="{9D8B030D-6E8A-4147-A177-3AD203B41FA5}">
                      <a16:colId xmlns:a16="http://schemas.microsoft.com/office/drawing/2014/main" val="383808777"/>
                    </a:ext>
                  </a:extLst>
                </a:gridCol>
                <a:gridCol w="1909916">
                  <a:extLst>
                    <a:ext uri="{9D8B030D-6E8A-4147-A177-3AD203B41FA5}">
                      <a16:colId xmlns:a16="http://schemas.microsoft.com/office/drawing/2014/main" val="1114521190"/>
                    </a:ext>
                  </a:extLst>
                </a:gridCol>
                <a:gridCol w="4616245">
                  <a:extLst>
                    <a:ext uri="{9D8B030D-6E8A-4147-A177-3AD203B41FA5}">
                      <a16:colId xmlns:a16="http://schemas.microsoft.com/office/drawing/2014/main" val="2670512116"/>
                    </a:ext>
                  </a:extLst>
                </a:gridCol>
                <a:gridCol w="1644445">
                  <a:extLst>
                    <a:ext uri="{9D8B030D-6E8A-4147-A177-3AD203B41FA5}">
                      <a16:colId xmlns:a16="http://schemas.microsoft.com/office/drawing/2014/main" val="4145203786"/>
                    </a:ext>
                  </a:extLst>
                </a:gridCol>
                <a:gridCol w="1399628">
                  <a:extLst>
                    <a:ext uri="{9D8B030D-6E8A-4147-A177-3AD203B41FA5}">
                      <a16:colId xmlns:a16="http://schemas.microsoft.com/office/drawing/2014/main" val="711119100"/>
                    </a:ext>
                  </a:extLst>
                </a:gridCol>
              </a:tblGrid>
              <a:tr h="3834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功能模块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子模块</a:t>
                      </a:r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重要性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优先级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183520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输入处理模块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绘本内容处理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处理图文内容，提取绘本的文字和图片信息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029362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儿童状态检测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通过摄像头检测儿童的坐姿、表情、专注度等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9905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儿童语音反馈处理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识别和分析儿童语音，判断发音、语法和词汇准确性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201637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内容生成模块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文字讲解生成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结合绘本内容与儿童反馈生成适当的文字讲解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8652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图片讲解生成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根据绘本中的图片或生成新的图片进行讲解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871075"/>
                  </a:ext>
                </a:extLst>
              </a:tr>
              <a:tr h="575527"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语音反馈与纠正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对儿童的语音反馈进行分析并提供语音纠正与建议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811621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时间管理模块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课程进度监控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根据课程计划监控和调整课程内容，确保时间不超出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031365"/>
                  </a:ext>
                </a:extLst>
              </a:tr>
              <a:tr h="456671"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课程时间调整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基于进度自动调整每节课的时间分配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04771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输出反馈模块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讲解反馈生成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根据学生状态、语音表现与进度动态生成讲解反馈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359125"/>
                  </a:ext>
                </a:extLst>
              </a:tr>
              <a:tr h="652388"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学生互动反馈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动态根据学生的互动给出个性化的回答和建议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69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14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F01E39-E2A9-7740-87AD-D1C490CDDF1C}"/>
              </a:ext>
            </a:extLst>
          </p:cNvPr>
          <p:cNvSpPr txBox="1"/>
          <p:nvPr/>
        </p:nvSpPr>
        <p:spPr>
          <a:xfrm>
            <a:off x="447368" y="493388"/>
            <a:ext cx="10899058" cy="5871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数据输入层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图文内容输入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 文本处理模块读取和解析绘本内容。利用图像识别模块提取绘本中的图片，并与对应的文本信息关联。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儿童状态输入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CV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模块，结合儿童摄像头输入，实时识别儿童的姿态、眼神、表情等，评估其专注度、情绪等。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儿童语音输入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：使用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ASR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模块将儿童的语音转换为文本，实时评估语音的语法和发音正确性。</a:t>
            </a: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内容生成层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生成讲解内容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：结合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NLP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模块，基于绘本中的文本内容和儿童的反馈（语音及状态）动态生成适当的文字或语音讲解。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动态反馈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：当儿童在读单词或回答问题时，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NLP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TTS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模块能够给出实时反馈。如果语法或发音有错误，系统能够进行纠正并给予适当的提示。</a:t>
            </a: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时间管理与课程进度层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进度监控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：利用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Time Management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模块根据课程的实时进度调整接下来的内容，确保课程内容的推进不会因为某些学生进展缓慢而拖延整体进度。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课程动态调整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RL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模块可根据学生的学习进展，调整教学策略，确保每节课的内容适应不同学生的需求。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多模态交互与输出层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语音输出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TTS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模块将生成的讲解文本转化为语音，进行语音反馈。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图像输出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：当讲解涉及到图像时，利用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CV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模块生成讲解所需的图像（可以从绘本中提取，也可以由系统生成）。</a:t>
            </a:r>
          </a:p>
        </p:txBody>
      </p:sp>
    </p:spTree>
    <p:extLst>
      <p:ext uri="{BB962C8B-B14F-4D97-AF65-F5344CB8AC3E}">
        <p14:creationId xmlns:p14="http://schemas.microsoft.com/office/powerpoint/2010/main" val="390853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C3504D3-1C6E-EA4B-9C75-5AE9716E3618}"/>
              </a:ext>
            </a:extLst>
          </p:cNvPr>
          <p:cNvSpPr txBox="1"/>
          <p:nvPr/>
        </p:nvSpPr>
        <p:spPr>
          <a:xfrm>
            <a:off x="467646" y="654971"/>
            <a:ext cx="11256707" cy="5548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NLP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用于处理自然语言输入（例如：儿童语音反馈）。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NLP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模块可以进行语音到文本的转换，并且通过语言理解分析语法和语音准确性。此模块支持多语言输入，可以根据儿童的语言能力动态调整反馈。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CV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用于处理图像和视频输入（例如：儿童状态检测）。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CV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模块能够识别和分析图像内容，可以用于实时跟踪儿童的表情、眼动、坐姿等，评估他们的专注度和互动程度。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ASR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用于将儿童的语音转换为文本。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ASR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模块支持对儿童语音的快速识别，并能够分析发音的准确性与语法。通过这个模块，可以在实时语音反馈时及时纠正发音和语法错误。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TTS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用于将生成的文本讲解转化为语音输出。适用于提供语音讲解和反馈。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RL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用于根据儿童的互动实时调整学习路径。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RL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模块可以通过与学生的互动学习，不断优化教学内容和策略。可以动态调整课程进度和反馈。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Time Management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负责控制和管理课程进度，确保每节课的时间不会超过预设的时长。这个模块根据每个学生的学习情况调整课程内容和时间分配。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GNN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如果需要处理复杂的反馈与多层级的学生交互数据，可以使用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GNN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模块来处理学生的动态学习数据。</a:t>
            </a:r>
          </a:p>
        </p:txBody>
      </p:sp>
    </p:spTree>
    <p:extLst>
      <p:ext uri="{BB962C8B-B14F-4D97-AF65-F5344CB8AC3E}">
        <p14:creationId xmlns:p14="http://schemas.microsoft.com/office/powerpoint/2010/main" val="342079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</TotalTime>
  <Words>769</Words>
  <Application>Microsoft Macintosh PowerPoint</Application>
  <PresentationFormat>宽屏</PresentationFormat>
  <Paragraphs>72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宗霖 李</dc:creator>
  <cp:lastModifiedBy>宗霖 李</cp:lastModifiedBy>
  <cp:revision>1</cp:revision>
  <dcterms:created xsi:type="dcterms:W3CDTF">2025-09-06T11:39:55Z</dcterms:created>
  <dcterms:modified xsi:type="dcterms:W3CDTF">2025-09-09T01:45:15Z</dcterms:modified>
</cp:coreProperties>
</file>